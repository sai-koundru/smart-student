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GURU NANAK INSTITUTIONS TECHNICAL CAMPUS (AUTONOMOUS) • IBRAHIMPATNAM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01168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3F4F6"/>
                </a:solidFill>
                <a:latin typeface="Arial"/>
              </a:defRPr>
            </a:pPr>
            <a:r>
              <a:t>GNITC PORTAL</a:t>
            </a:r>
          </a:p>
          <a:p>
            <a:pPr>
              <a:spcBef>
                <a:spcPts val="800"/>
              </a:spcBef>
              <a:defRPr sz="2000">
                <a:solidFill>
                  <a:srgbClr val="8B5CF6"/>
                </a:solidFill>
                <a:latin typeface="Arial"/>
              </a:defRPr>
            </a:pPr>
            <a:r>
              <a:t>Smart Student — Next-Generation Integrated Academic Management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A single unified cloud platform replacing fragmented systems across attendance, smart timetable, leave approvals, GNITC bus tracking, competitive exams guidance, and campus event registrations.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4480560"/>
            <a:ext cx="886968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● LIVE CLOUD DEPLOYMENT: https://gnitc-portal.onrender.com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</a:defRPr>
            </a:pPr>
            <a:r>
              <a:t>Mobile Progressive Web App (PWA) • Dual Dashboards (Faculty &amp; Student) • 10 Integrated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PROJECT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The Challenge vs The GNITC Portal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54864" cy="42428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The Fragmented Campus Problem</a:t>
            </a:r>
          </a:p>
          <a:p>
            <a:pPr>
              <a:spcBef>
                <a:spcPts val="300"/>
              </a:spcBef>
              <a:defRPr sz="1100">
                <a:solidFill>
                  <a:srgbClr val="F59E0B"/>
                </a:solidFill>
                <a:latin typeface="Arial"/>
              </a:defRPr>
            </a:pPr>
            <a:r>
              <a:t>Legacy &amp; Multi-App Inefficiencies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• Disjointed Platforms: </a:t>
            </a:r>
            <a:r>
              <a:rPr b="0">
                <a:solidFill>
                  <a:srgbClr val="9CA3AF"/>
                </a:solidFill>
              </a:rPr>
              <a:t>Students toggle 4-5 different platforms for attendance, notes, assignments, and announcements.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• Manual Leave Friction: </a:t>
            </a:r>
            <a:r>
              <a:rPr b="0">
                <a:solidFill>
                  <a:srgbClr val="9CA3AF"/>
                </a:solidFill>
              </a:rPr>
              <a:t>Leave letters take days to get signed by HODs and verified with parents over phone calls.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• Bus Route Uncertainty: </a:t>
            </a:r>
            <a:r>
              <a:rPr b="0">
                <a:solidFill>
                  <a:srgbClr val="9CA3AF"/>
                </a:solidFill>
              </a:rPr>
              <a:t>Students commuting 50-60 km across Hyderabad lack exact bus stop arrival &amp; departure times.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• Missed Opportunities: </a:t>
            </a:r>
            <a:r>
              <a:rPr b="0">
                <a:solidFill>
                  <a:srgbClr val="9CA3AF"/>
                </a:solidFill>
              </a:rPr>
              <a:t>Crucial hackathons, internship alerts, and exam deadlines get lost in WhatsApp group clutter.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10512"/>
            <a:ext cx="54864" cy="42428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The Integrated GNITC Ecosystem</a:t>
            </a:r>
          </a:p>
          <a:p>
            <a:pPr>
              <a:spcBef>
                <a:spcPts val="3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Single Unified Mobile Solution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✔ All-in-One Dashboard: </a:t>
            </a:r>
            <a:r>
              <a:rPr b="0">
                <a:solidFill>
                  <a:srgbClr val="9CA3AF"/>
                </a:solidFill>
              </a:rPr>
              <a:t>Combines timetable, marks, QR attendance, assignments, and alerts into one sleek portal.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✔ Paperless Digital Leave: </a:t>
            </a:r>
            <a:r>
              <a:rPr b="0">
                <a:solidFill>
                  <a:srgbClr val="9CA3AF"/>
                </a:solidFill>
              </a:rPr>
              <a:t>Instant 2-tier approval where parents approve via a secure web link, followed by teacher sign-off.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✔ Live Route Guide: </a:t>
            </a:r>
            <a:r>
              <a:rPr b="0">
                <a:solidFill>
                  <a:srgbClr val="9CA3AF"/>
                </a:solidFill>
              </a:rPr>
              <a:t>Dedicated 8-route GNITC bus guide detailing timings from Dilsukhnagar, Secunderabad, Suchitra, etc.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✔ Career Roadmaps &amp; Events: </a:t>
            </a:r>
            <a:r>
              <a:rPr b="0">
                <a:solidFill>
                  <a:srgbClr val="9CA3AF"/>
                </a:solidFill>
              </a:rPr>
              <a:t>Comprehensive pre/post-engineering competitive exam guides and categorized campus event 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ENGINEERING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Modern Full-Stack Architecture &amp;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54864" cy="424281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8803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Frontend Layer</a:t>
            </a:r>
          </a:p>
          <a:p>
            <a:pPr>
              <a:spcBef>
                <a:spcPts val="300"/>
              </a:spcBef>
              <a:defRPr sz="1100">
                <a:solidFill>
                  <a:srgbClr val="8B5CF6"/>
                </a:solidFill>
                <a:latin typeface="Arial"/>
              </a:defRPr>
            </a:pPr>
            <a:r>
              <a:t>React 18 + Vite + Tailwind CSS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• React 18 SPA with React Router v6</a:t>
            </a:r>
            <a:br/>
            <a:r>
              <a:t>• Tailwind CSS modern glassmorphic theme</a:t>
            </a:r>
            <a:br/>
            <a:r>
              <a:t>• Lucide React icons library</a:t>
            </a:r>
            <a:br/>
            <a:r>
              <a:t>• HTML5-QRCode scanner module</a:t>
            </a:r>
            <a:br/>
            <a:r>
              <a:t>• QRCode.react SVG session generator</a:t>
            </a:r>
            <a:br/>
            <a:r>
              <a:t>• Mobile-first responsive touch layout</a:t>
            </a:r>
            <a:br/>
            <a:r>
              <a:t>• Stored JWT auth with reactive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3756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810512"/>
            <a:ext cx="54864" cy="424281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28803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Backend &amp; API Layer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  <a:latin typeface="Arial"/>
              </a:defRPr>
            </a:pPr>
            <a:r>
              <a:t>Node.js + Express + SQLite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• Express.js REST API with clean modular routes</a:t>
            </a:r>
            <a:br/>
            <a:r>
              <a:t>• SQLite with Better-SQLite3 native driver</a:t>
            </a:r>
            <a:br/>
            <a:r>
              <a:t>• BcryptJS salted password hashing</a:t>
            </a:r>
            <a:br/>
            <a:r>
              <a:t>• JWT Token authentication with 7-day expiry</a:t>
            </a:r>
            <a:br/>
            <a:r>
              <a:t>• Role-based authorization middleware</a:t>
            </a:r>
            <a:br/>
            <a:r>
              <a:t>• Static production asset serving from root</a:t>
            </a:r>
            <a:br/>
            <a:r>
              <a:t>• Automated seed generator &amp; DB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3756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80" y="1810512"/>
            <a:ext cx="54864" cy="42428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28803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Deployment &amp; PWA</a:t>
            </a:r>
          </a:p>
          <a:p>
            <a:pPr>
              <a:spcBef>
                <a:spcPts val="3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Render.com + Service Worker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• Web Manifest (standalone full-screen app)</a:t>
            </a:r>
            <a:br/>
            <a:r>
              <a:t>• Background service worker caching (v2)</a:t>
            </a:r>
            <a:br/>
            <a:r>
              <a:t>• Custom GNITC vector launcher icons</a:t>
            </a:r>
            <a:br/>
            <a:r>
              <a:t>• Zero-app-store 1-tap browser installation</a:t>
            </a:r>
            <a:br/>
            <a:r>
              <a:t>• Continuous deployment from GitHub repo</a:t>
            </a:r>
            <a:br/>
            <a:r>
              <a:t>• 24/7 Global accessibility via HTTPS</a:t>
            </a:r>
            <a:br/>
            <a:r>
              <a:t>• High performance &lt;3s production Vite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CORE FUNCTIONALITIES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Smart Academic Core: Daily Student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54864" cy="181965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QR-Based Smart Attendance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  <a:latin typeface="Arial"/>
              </a:defRPr>
            </a:pPr>
            <a:r>
              <a:t>Fast, Anti-Proxy Classroom Tracking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Faculty generates dynamic, time-limited QR codes on classroom screens. Students scan using camera to mark attendance instantly. Real-time percentage tracking with color thresholds (&gt;75%).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10512"/>
            <a:ext cx="54864" cy="181965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Dynamic Timetable System</a:t>
            </a:r>
          </a:p>
          <a:p>
            <a:pPr>
              <a:spcBef>
                <a:spcPts val="300"/>
              </a:spcBef>
              <a:defRPr sz="1100">
                <a:solidFill>
                  <a:srgbClr val="8B5CF6"/>
                </a:solidFill>
                <a:latin typeface="Arial"/>
              </a:defRPr>
            </a:pPr>
            <a:r>
              <a:t>Live Schedule &amp; Classroom Allocation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Weekly day-by-day timetable grid highlighting current day's classes, subject codes, lab rooms, and assigned faculty. Faculty dashboard provides instant slot creation and rescheduling.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233672"/>
            <a:ext cx="54864" cy="181965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40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Assignment Management Hub</a:t>
            </a:r>
          </a:p>
          <a:p>
            <a:pPr>
              <a:spcBef>
                <a:spcPts val="300"/>
              </a:spcBef>
              <a:defRPr sz="1100">
                <a:solidFill>
                  <a:srgbClr val="F59E0B"/>
                </a:solidFill>
                <a:latin typeface="Arial"/>
              </a:defRPr>
            </a:pPr>
            <a:r>
              <a:t>Digital Homework &amp; Feedback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Teachers upload homework with deadlines and maximum marks. Students submit text/solutions directly in the portal. Real-time status badges (Pending, Submitted, Graded) with remarks.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69080"/>
            <a:ext cx="512064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4233672"/>
            <a:ext cx="54864" cy="181965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206240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Marks &amp; Academic Performance</a:t>
            </a:r>
          </a:p>
          <a:p>
            <a:pPr>
              <a:spcBef>
                <a:spcPts val="3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Multi-Exam Visual Analytics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Detailed scorecards across Midterms, Quizzes, Internals, and Semester Finals. Visual bar charts give students clear insights into course strengths, percentiles, and subject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CAMPUS TRANSPORT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College Bus Track: Built for GNITC Ibrahimpatnam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02336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54864" cy="424281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3566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GNITC Fleet Highlights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  <a:latin typeface="Arial"/>
              </a:defRPr>
            </a:pPr>
            <a:r>
              <a:t>Covering 50-60 KM Radius of Hyderabad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• Location: Ibrahimpatnam, R.R. Dist, Telangana</a:t>
            </a:r>
            <a:br/>
            <a:r>
              <a:t>• Fleet Size: 50+ AC &amp; Non-AC Buses</a:t>
            </a:r>
            <a:br/>
            <a:r>
              <a:t>• Transport Helpline: +91 84990 71144</a:t>
            </a:r>
            <a:br/>
            <a:r>
              <a:t>• Morning Arrival: 8:45 AM – 9:00 AM</a:t>
            </a:r>
            <a:br/>
            <a:r>
              <a:t>• Evening Departure: 4:30 PM Sharp</a:t>
            </a:r>
            <a:br/>
            <a:r>
              <a:t>• Mandatory Policy: Valid bus pass &amp; ID card</a:t>
            </a:r>
            <a:br/>
            <a:r>
              <a:t>• Real-Time Search: Students can filter routes instantly by locality name.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630936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1810512"/>
            <a:ext cx="54864" cy="424281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79" y="1783080"/>
            <a:ext cx="5852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Documented Point-to-Point (P2P) Routes</a:t>
            </a:r>
          </a:p>
          <a:p>
            <a:pPr>
              <a:spcBef>
                <a:spcPts val="300"/>
              </a:spcBef>
              <a:defRPr sz="1100">
                <a:solidFill>
                  <a:srgbClr val="8B5CF6"/>
                </a:solidFill>
                <a:latin typeface="Arial"/>
              </a:defRPr>
            </a:pPr>
            <a:r>
              <a:t>Exact Morning Pickup &amp; Evening Timings</a:t>
            </a:r>
          </a:p>
          <a:p>
            <a:pPr>
              <a:spcBef>
                <a:spcPts val="600"/>
              </a:spcBef>
              <a:defRPr b="1" sz="1100">
                <a:solidFill>
                  <a:srgbClr val="F3F4F6"/>
                </a:solidFill>
              </a:defRPr>
            </a:pPr>
            <a:r>
              <a:t>🚌 Bus 1: Dilsukhnagar (7:30 AM): </a:t>
            </a:r>
            <a:r>
              <a:rPr b="0">
                <a:solidFill>
                  <a:srgbClr val="9CA3AF"/>
                </a:solidFill>
              </a:rPr>
              <a:t>Dilsukhnagar → Kothapet → LB Nagar → Hayathnagar → GNITC (8:50 AM)</a:t>
            </a:r>
          </a:p>
          <a:p>
            <a:pPr>
              <a:spcBef>
                <a:spcPts val="600"/>
              </a:spcBef>
              <a:defRPr b="1" sz="1100">
                <a:solidFill>
                  <a:srgbClr val="F3F4F6"/>
                </a:solidFill>
              </a:defRPr>
            </a:pPr>
            <a:r>
              <a:t>🚌 Bus 2: Secunderabad (7:15 AM): </a:t>
            </a:r>
            <a:r>
              <a:rPr b="0">
                <a:solidFill>
                  <a:srgbClr val="9CA3AF"/>
                </a:solidFill>
              </a:rPr>
              <a:t>Secunderabad → Tarnaka → Uppal → Boduppal → GNITC (8:50 AM)</a:t>
            </a:r>
          </a:p>
          <a:p>
            <a:pPr>
              <a:spcBef>
                <a:spcPts val="600"/>
              </a:spcBef>
              <a:defRPr b="1" sz="1100">
                <a:solidFill>
                  <a:srgbClr val="F3F4F6"/>
                </a:solidFill>
              </a:defRPr>
            </a:pPr>
            <a:r>
              <a:t>🚌 Bus 3: Mehdipatnam (7:00 AM): </a:t>
            </a:r>
            <a:r>
              <a:rPr b="0">
                <a:solidFill>
                  <a:srgbClr val="9CA3AF"/>
                </a:solidFill>
              </a:rPr>
              <a:t>Mehdipatnam → Attapur → Rajendranagar → Shamshabad → GNITC (8:45 AM)</a:t>
            </a:r>
          </a:p>
          <a:p>
            <a:pPr>
              <a:spcBef>
                <a:spcPts val="600"/>
              </a:spcBef>
              <a:defRPr b="1" sz="1100">
                <a:solidFill>
                  <a:srgbClr val="F3F4F6"/>
                </a:solidFill>
              </a:defRPr>
            </a:pPr>
            <a:r>
              <a:t>🚌 Bus 4: Suchitra (6:45 AM): </a:t>
            </a:r>
            <a:r>
              <a:rPr b="0">
                <a:solidFill>
                  <a:srgbClr val="9CA3AF"/>
                </a:solidFill>
              </a:rPr>
              <a:t>Suchitra → Alwal → Malkajgiri → ECIL → Nacharam → GNITC (8:50 AM)</a:t>
            </a:r>
          </a:p>
          <a:p>
            <a:pPr>
              <a:spcBef>
                <a:spcPts val="600"/>
              </a:spcBef>
              <a:defRPr b="1" sz="1100">
                <a:solidFill>
                  <a:srgbClr val="F3F4F6"/>
                </a:solidFill>
              </a:defRPr>
            </a:pPr>
            <a:r>
              <a:t>🚌 Bus 5: Naredmet (7:00 AM): </a:t>
            </a:r>
            <a:r>
              <a:rPr b="0">
                <a:solidFill>
                  <a:srgbClr val="9CA3AF"/>
                </a:solidFill>
              </a:rPr>
              <a:t>Naredmet → Sainikpuri → ECIL → AS Rao Nagar → GNITC (8:50 AM)</a:t>
            </a:r>
          </a:p>
          <a:p>
            <a:pPr>
              <a:spcBef>
                <a:spcPts val="600"/>
              </a:spcBef>
              <a:defRPr b="1" sz="1100">
                <a:solidFill>
                  <a:srgbClr val="F3F4F6"/>
                </a:solidFill>
              </a:defRPr>
            </a:pPr>
            <a:r>
              <a:t>🚌 Bus 6: Kukatpally (6:45 AM): </a:t>
            </a:r>
            <a:r>
              <a:rPr b="0">
                <a:solidFill>
                  <a:srgbClr val="9CA3AF"/>
                </a:solidFill>
              </a:rPr>
              <a:t>Kukatpally → JNTU → KPHB → Miyapur → Chandanagar → GNITC (8:50 AM)</a:t>
            </a:r>
          </a:p>
          <a:p>
            <a:pPr>
              <a:spcBef>
                <a:spcPts val="600"/>
              </a:spcBef>
              <a:defRPr b="1" sz="1100">
                <a:solidFill>
                  <a:srgbClr val="F3F4F6"/>
                </a:solidFill>
              </a:defRPr>
            </a:pPr>
            <a:r>
              <a:t>🚌 Bus 7: Malakpet (7:15 AM): </a:t>
            </a:r>
            <a:r>
              <a:rPr b="0">
                <a:solidFill>
                  <a:srgbClr val="9CA3AF"/>
                </a:solidFill>
              </a:rPr>
              <a:t>Malakpet → Chaderghat → Vanasthalipuram → Hayathnagar → GNITC (8:45 AM)</a:t>
            </a:r>
          </a:p>
          <a:p>
            <a:pPr>
              <a:spcBef>
                <a:spcPts val="600"/>
              </a:spcBef>
              <a:defRPr b="1" sz="1100">
                <a:solidFill>
                  <a:srgbClr val="F3F4F6"/>
                </a:solidFill>
              </a:defRPr>
            </a:pPr>
            <a:r>
              <a:t>🚌 Bus 8: Medipally (7:15 AM): </a:t>
            </a:r>
            <a:r>
              <a:rPr b="0">
                <a:solidFill>
                  <a:srgbClr val="9CA3AF"/>
                </a:solidFill>
              </a:rPr>
              <a:t>Medipally → Uppal Depot → Pirzadiguda → Nagole → GNITC (8:50 AM)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SECURITY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Digital Leave Application: Dual-Approval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3108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54864" cy="277977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011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300"/>
              </a:spcBef>
              <a:defRPr sz="1100">
                <a:solidFill>
                  <a:srgbClr val="8B5CF6"/>
                </a:solidFill>
                <a:latin typeface="Arial"/>
              </a:defRPr>
            </a:pPr>
            <a:r>
              <a:t>Step 1: Student Applies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Student fills leave dates and explanation of absence directly in the portal. A unique UUID verification token is generated.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468880" cy="3108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810512"/>
            <a:ext cx="54864" cy="27797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783080"/>
            <a:ext cx="2011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  <a:latin typeface="Arial"/>
              </a:defRPr>
            </a:pPr>
            <a:r>
              <a:t>Step 2: Parent Link Generated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The portal produces a dedicated standalone URL (e.g. /parent-approval/uuid). Student shares it with their parent via WhatsApp/SMS.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468880" cy="3108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810512"/>
            <a:ext cx="54864" cy="2779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2011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3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Step 3: 1-Tap Parent Decision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Parents open the secure page on their phone without logging in. They view absence reasons and tap 'Approve' or 'Reject' with comments.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468880" cy="31089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810512"/>
            <a:ext cx="54864" cy="2779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783080"/>
            <a:ext cx="2011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300"/>
              </a:spcBef>
              <a:defRPr sz="1100">
                <a:solidFill>
                  <a:srgbClr val="F59E0B"/>
                </a:solidFill>
                <a:latin typeface="Arial"/>
              </a:defRPr>
            </a:pPr>
            <a:r>
              <a:t>Step 4: Faculty Final Review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Class Teacher views the live status in 'Leave Approvals'. Leave is officially granted only when BOTH parent and teacher grant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5193792"/>
            <a:ext cx="54864" cy="9509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66360"/>
            <a:ext cx="1024128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Why This Architecture Matters for GNITC</a:t>
            </a:r>
          </a:p>
          <a:p>
            <a:pPr>
              <a:spcBef>
                <a:spcPts val="3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Zero Proxy Leaves &amp; Complete Accountability</a:t>
            </a:r>
          </a:p>
          <a:p>
            <a:pPr>
              <a:spcBef>
                <a:spcPts val="600"/>
              </a:spcBef>
              <a:defRPr sz="1200">
                <a:solidFill>
                  <a:srgbClr val="F3F4F6"/>
                </a:solidFill>
              </a:defRPr>
            </a:pPr>
            <a:r>
              <a:t>✔ Eliminates forged paper letters  •  ✔ Saves faculty hours spent on phone verification  •  ✔ Gives parents immediate visibility  •  ✔ Complete timestamped audit trail in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STUDENT CAREER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Comprehensive Exams Guide: 25+ Career Roadmaps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54864" cy="424281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1. Pre-Engineering Pathways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  <a:latin typeface="Arial"/>
              </a:defRPr>
            </a:pPr>
            <a:r>
              <a:t>College Admissions &amp; Central Govt Exams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JEE Main &amp; Advanced: </a:t>
            </a:r>
            <a:r>
              <a:rPr b="0">
                <a:solidFill>
                  <a:srgbClr val="9CA3AF"/>
                </a:solidFill>
              </a:rPr>
              <a:t>IITs, NITs, IIITs — Elite Software &amp; Core Engineering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TS &amp; AP EAMCET: </a:t>
            </a:r>
            <a:r>
              <a:rPr b="0">
                <a:solidFill>
                  <a:srgbClr val="9CA3AF"/>
                </a:solidFill>
              </a:rPr>
              <a:t>State Engineering Colleges (Telangana &amp; Andhra Pradesh)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BITSAT &amp; COMEDK: </a:t>
            </a:r>
            <a:r>
              <a:rPr b="0">
                <a:solidFill>
                  <a:srgbClr val="9CA3AF"/>
                </a:solidFill>
              </a:rPr>
              <a:t>BITS Pilani &amp; Top Private Karnataka Engineering Colleges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SAT &amp; ACT: </a:t>
            </a:r>
            <a:r>
              <a:rPr b="0">
                <a:solidFill>
                  <a:srgbClr val="9CA3AF"/>
                </a:solidFill>
              </a:rPr>
              <a:t>Undergraduate Admissions in Top USA &amp; Canadian Universities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IELTS &amp; TOEFL: </a:t>
            </a:r>
            <a:r>
              <a:rPr b="0">
                <a:solidFill>
                  <a:srgbClr val="9CA3AF"/>
                </a:solidFill>
              </a:rPr>
              <a:t>English Proficiency Standard for Overseas University Studies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SSC CHSL &amp; RRB NTPC: </a:t>
            </a:r>
            <a:r>
              <a:rPr b="0">
                <a:solidFill>
                  <a:srgbClr val="9CA3AF"/>
                </a:solidFill>
              </a:rPr>
              <a:t>Central Govt Clerks, Postal Assistants, Railway Officers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10512"/>
            <a:ext cx="54864" cy="424281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2. Post-Engineering Pathways</a:t>
            </a:r>
          </a:p>
          <a:p>
            <a:pPr>
              <a:spcBef>
                <a:spcPts val="300"/>
              </a:spcBef>
              <a:defRPr sz="1100">
                <a:solidFill>
                  <a:srgbClr val="8B5CF6"/>
                </a:solidFill>
                <a:latin typeface="Arial"/>
              </a:defRPr>
            </a:pPr>
            <a:r>
              <a:t>Higher Studies, PSU &amp; Elite Govt Roles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GATE Exam: </a:t>
            </a:r>
            <a:r>
              <a:rPr b="0">
                <a:solidFill>
                  <a:srgbClr val="9CA3AF"/>
                </a:solidFill>
              </a:rPr>
              <a:t>M.Tech at IITs/IISc and Direct PSU Recruitment (ONGC, BHEL)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CAT &amp; GMAT: </a:t>
            </a:r>
            <a:r>
              <a:rPr b="0">
                <a:solidFill>
                  <a:srgbClr val="9CA3AF"/>
                </a:solidFill>
              </a:rPr>
              <a:t>MBA at IIMs, Harvard, Stanford — Executive Leadership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GRE &amp; TOEFL/IELTS: </a:t>
            </a:r>
            <a:r>
              <a:rPr b="0">
                <a:solidFill>
                  <a:srgbClr val="9CA3AF"/>
                </a:solidFill>
              </a:rPr>
              <a:t>Master of Science (MS) / PhD in USA, Germany, Europe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UPSC Civil Services (CSE): </a:t>
            </a:r>
            <a:r>
              <a:rPr b="0">
                <a:solidFill>
                  <a:srgbClr val="9CA3AF"/>
                </a:solidFill>
              </a:rPr>
              <a:t>IAS, IPS, IFS, IRS — Nation's Premier Bureaucracy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SSC CGL &amp; Bank PO (SBI/IBPS): </a:t>
            </a:r>
            <a:r>
              <a:rPr b="0">
                <a:solidFill>
                  <a:srgbClr val="9CA3AF"/>
                </a:solidFill>
              </a:rPr>
              <a:t>Income Tax Inspector, Central Auditor, Bank Officer</a:t>
            </a:r>
          </a:p>
          <a:p>
            <a:pPr>
              <a:spcBef>
                <a:spcPts val="900"/>
              </a:spcBef>
              <a:defRPr b="1" sz="1100">
                <a:solidFill>
                  <a:srgbClr val="F3F4F6"/>
                </a:solidFill>
              </a:defRPr>
            </a:pPr>
            <a:r>
              <a:t>★ ISRO Scientist &amp; DRDO SET: </a:t>
            </a:r>
            <a:r>
              <a:rPr b="0">
                <a:solidFill>
                  <a:srgbClr val="9CA3AF"/>
                </a:solidFill>
              </a:rPr>
              <a:t>Space Scientist &amp; Defence Research Scientist Positions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STUDENT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Campus Event Management &amp; Student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54864" cy="424281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8803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Tech &amp; Hackathons</a:t>
            </a:r>
          </a:p>
          <a:p>
            <a:pPr>
              <a:spcBef>
                <a:spcPts val="300"/>
              </a:spcBef>
              <a:defRPr sz="1100">
                <a:solidFill>
                  <a:srgbClr val="8B5CF6"/>
                </a:solidFill>
                <a:latin typeface="Arial"/>
              </a:defRPr>
            </a:pPr>
            <a:r>
              <a:t>Competitions &amp; Summer Schools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• GNITC Code Sprint 2026</a:t>
            </a:r>
            <a:br/>
            <a:r>
              <a:t>  Annual flagship 24h coding marathon</a:t>
            </a:r>
            <a:br/>
            <a:r>
              <a:t>  Registration: ₹100 • Cash awards</a:t>
            </a:r>
            <a:br/>
            <a:br/>
            <a:r>
              <a:t>• TCS CodeVita Global</a:t>
            </a:r>
            <a:br/>
            <a:r>
              <a:t>  National competitive coding challenge</a:t>
            </a:r>
            <a:br/>
            <a:r>
              <a:t>  Free entry • Fast-track interview</a:t>
            </a:r>
            <a:br/>
            <a:br/>
            <a:r>
              <a:t>• Amazon ML Summer School</a:t>
            </a:r>
            <a:br/>
            <a:r>
              <a:t>  Deep-dive machine learning training</a:t>
            </a:r>
            <a:br/>
            <a:r>
              <a:t>  Free selection for 3rd/4th year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3756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810512"/>
            <a:ext cx="54864" cy="424281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28803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Skill Workshops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  <a:latin typeface="Arial"/>
              </a:defRPr>
            </a:pPr>
            <a:r>
              <a:t>Hands-On Practical Training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• AI &amp; LLM Practical Workshop</a:t>
            </a:r>
            <a:br/>
            <a:r>
              <a:t>  Building modern AI agents &amp; apps</a:t>
            </a:r>
            <a:br/>
            <a:r>
              <a:t>  Registration: ₹200 • Certificate</a:t>
            </a:r>
            <a:br/>
            <a:br/>
            <a:r>
              <a:t>• Campus Recruitment Drive</a:t>
            </a:r>
            <a:br/>
            <a:r>
              <a:t>  Resume screening &amp; mock interviews</a:t>
            </a:r>
            <a:br/>
            <a:r>
              <a:t>  Free entry • Placement preparation</a:t>
            </a:r>
            <a:br/>
            <a:br/>
            <a:r>
              <a:t>• Cloud DevOps Bootcamp</a:t>
            </a:r>
            <a:br/>
            <a:r>
              <a:t>  Docker, Kubernetes &amp; CI/CD pipelines</a:t>
            </a:r>
            <a:br/>
            <a:r>
              <a:t>  Conducted with industry experts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3756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80" y="1810512"/>
            <a:ext cx="54864" cy="42428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28803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Cultural &amp; Fests</a:t>
            </a:r>
          </a:p>
          <a:p>
            <a:pPr>
              <a:spcBef>
                <a:spcPts val="300"/>
              </a:spcBef>
              <a:defRPr sz="1100">
                <a:solidFill>
                  <a:srgbClr val="F59E0B"/>
                </a:solidFill>
                <a:latin typeface="Arial"/>
              </a:defRPr>
            </a:pPr>
            <a:r>
              <a:t>Extra-Curricular Activities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• Sargam 2026 Cultural Fest</a:t>
            </a:r>
            <a:br/>
            <a:r>
              <a:t>  GNITC Inter-college cultural carnival</a:t>
            </a:r>
            <a:br/>
            <a:r>
              <a:t>  Music, Dance, Drama, Fine Arts</a:t>
            </a:r>
            <a:br/>
            <a:r>
              <a:t>  Entry: ₹50 • Trophy prizes</a:t>
            </a:r>
            <a:br/>
            <a:br/>
            <a:r>
              <a:t>• Annual Sports Meet</a:t>
            </a:r>
            <a:br/>
            <a:r>
              <a:t>  Cricket, Football, Basketball</a:t>
            </a:r>
            <a:br/>
            <a:r>
              <a:t>  Inter-department tournament</a:t>
            </a:r>
            <a:br/>
            <a:br/>
            <a:r>
              <a:t>• Faculty Control Panel</a:t>
            </a:r>
            <a:br/>
            <a:r>
              <a:t>  Teachers can publish, edit deadlines,</a:t>
            </a:r>
            <a:br/>
            <a:r>
              <a:t>  and post application links in 10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DEPLOYMENT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Live Access, Credentials &amp; Project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10512"/>
            <a:ext cx="54864" cy="42428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Live Platform Access</a:t>
            </a:r>
          </a:p>
          <a:p>
            <a:pPr>
              <a:spcBef>
                <a:spcPts val="3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Deployed On Render Cloud (24/7 Live)</a:t>
            </a:r>
          </a:p>
          <a:p>
            <a:pPr>
              <a:spcBef>
                <a:spcPts val="1200"/>
              </a:spcBef>
              <a:defRPr sz="1200">
                <a:solidFill>
                  <a:srgbClr val="F3F4F6"/>
                </a:solidFill>
              </a:defRPr>
            </a:pPr>
            <a:r>
              <a:t>🔗 Live URL: https://gnitc-portal.onrender.com</a:t>
            </a:r>
            <a:br/>
            <a:br/>
            <a:r>
              <a:t>👤 STUDENT TEST CREDENTIALS:</a:t>
            </a:r>
            <a:br/>
            <a:r>
              <a:t>• Username: sanjana.sambu@test.com</a:t>
            </a:r>
            <a:br/>
            <a:r>
              <a:t>• Password:  0987654321</a:t>
            </a:r>
            <a:br/>
            <a:r>
              <a:t>• Access: Timetable, Bus Track, QR Scanner,</a:t>
            </a:r>
            <a:br/>
            <a:r>
              <a:t>  Leave Application, Exams Guide, Events</a:t>
            </a:r>
            <a:br/>
            <a:br/>
            <a:r>
              <a:t>👨‍🏫 FACULTY TEST CREDENTIALS:</a:t>
            </a:r>
            <a:br/>
            <a:r>
              <a:t>• Username: sai_koundru@test.com</a:t>
            </a:r>
            <a:br/>
            <a:r>
              <a:t>• Password:  1234567890</a:t>
            </a:r>
            <a:br/>
            <a:r>
              <a:t>• Access: QR Generator, Leave Approvals,</a:t>
            </a:r>
            <a:br/>
            <a:r>
              <a:t>  Marks Entry, Event Publishing,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10512"/>
            <a:ext cx="54864" cy="424281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3F4F6"/>
                </a:solidFill>
                <a:latin typeface="Arial"/>
              </a:defRPr>
            </a:pPr>
            <a:r>
              <a:t>Project Impact &amp; Future Scope</a:t>
            </a:r>
          </a:p>
          <a:p>
            <a:pPr>
              <a:spcBef>
                <a:spcPts val="300"/>
              </a:spcBef>
              <a:defRPr sz="1100">
                <a:solidFill>
                  <a:srgbClr val="8B5CF6"/>
                </a:solidFill>
                <a:latin typeface="Arial"/>
              </a:defRPr>
            </a:pPr>
            <a:r>
              <a:t>Transforming Campus Administration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🚀 100% Paperless Operations: </a:t>
            </a:r>
            <a:r>
              <a:rPr b="0">
                <a:solidFill>
                  <a:srgbClr val="9CA3AF"/>
                </a:solidFill>
              </a:rPr>
              <a:t>Digitizes attendance, leaves, and assignment cycles across departments.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🚀 Zero Install Barrier: </a:t>
            </a:r>
            <a:r>
              <a:rPr b="0">
                <a:solidFill>
                  <a:srgbClr val="9CA3AF"/>
                </a:solidFill>
              </a:rPr>
              <a:t>Progressive Web App installs instantly on Android &amp; iOS without app store delays.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🚀 Enhanced Parent-College Trust: </a:t>
            </a:r>
            <a:r>
              <a:rPr b="0">
                <a:solidFill>
                  <a:srgbClr val="9CA3AF"/>
                </a:solidFill>
              </a:rPr>
              <a:t>Direct 1-tap parental leave approval links remove guesswork and proxies.</a:t>
            </a:r>
          </a:p>
          <a:p>
            <a:pPr>
              <a:spcBef>
                <a:spcPts val="1200"/>
              </a:spcBef>
              <a:defRPr b="1" sz="1200">
                <a:solidFill>
                  <a:srgbClr val="F3F4F6"/>
                </a:solidFill>
              </a:defRPr>
            </a:pPr>
            <a:r>
              <a:t>🚀 Future Enhancements: </a:t>
            </a:r>
            <a:r>
              <a:rPr b="0">
                <a:solidFill>
                  <a:srgbClr val="9CA3AF"/>
                </a:solidFill>
              </a:rPr>
              <a:t>GPS integration for live GNITC bus location tracking, fee payment gateway, and library book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